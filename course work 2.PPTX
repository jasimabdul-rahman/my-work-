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64" r:id="rId3"/>
    <p:sldId id="261"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25627C-129A-4000-9C4E-84A507B0A61F}" type="datetimeFigureOut">
              <a:rPr lang="en-GB" smtClean="0"/>
              <a:t>14/04/2025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FDFC2D-66F8-4886-8ECF-94FF5C3C28CC}" type="slidenum">
              <a:rPr lang="en-GB" smtClean="0"/>
              <a:t>‹#›</a:t>
            </a:fld>
            <a:endParaRPr lang="en-GB"/>
          </a:p>
        </p:txBody>
      </p:sp>
    </p:spTree>
    <p:extLst>
      <p:ext uri="{BB962C8B-B14F-4D97-AF65-F5344CB8AC3E}">
        <p14:creationId xmlns:p14="http://schemas.microsoft.com/office/powerpoint/2010/main" val="4022440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8FDFC2D-66F8-4886-8ECF-94FF5C3C28CC}" type="slidenum">
              <a:rPr lang="en-GB" smtClean="0"/>
              <a:t>11</a:t>
            </a:fld>
            <a:endParaRPr lang="en-GB"/>
          </a:p>
        </p:txBody>
      </p:sp>
    </p:spTree>
    <p:extLst>
      <p:ext uri="{BB962C8B-B14F-4D97-AF65-F5344CB8AC3E}">
        <p14:creationId xmlns:p14="http://schemas.microsoft.com/office/powerpoint/2010/main" val="2336179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F18BDC6-D7F4-4FE3-8902-8966AD8B2035}" type="datetime1">
              <a:rPr lang="en-US" smtClean="0"/>
              <a:t>4/14/2025</a:t>
            </a:fld>
            <a:endParaRPr lang="en-US"/>
          </a:p>
        </p:txBody>
      </p:sp>
      <p:sp>
        <p:nvSpPr>
          <p:cNvPr id="5" name="Footer Placeholder 4"/>
          <p:cNvSpPr>
            <a:spLocks noGrp="1"/>
          </p:cNvSpPr>
          <p:nvPr>
            <p:ph type="ftr" sz="quarter" idx="11"/>
          </p:nvPr>
        </p:nvSpPr>
        <p:spPr/>
        <p:txBody>
          <a:bodyPr/>
          <a:lstStyle/>
          <a:p>
            <a:r>
              <a:rPr lang="en-US"/>
              <a:t>GROUP 1</a:t>
            </a:r>
          </a:p>
        </p:txBody>
      </p:sp>
      <p:sp>
        <p:nvSpPr>
          <p:cNvPr id="6" name="Slide Number Placeholder 5"/>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1565267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6A9A00-B8F1-4878-97A4-7CE1E19606D5}" type="datetime1">
              <a:rPr lang="en-US" smtClean="0"/>
              <a:t>4/14/2025</a:t>
            </a:fld>
            <a:endParaRPr lang="en-US"/>
          </a:p>
        </p:txBody>
      </p:sp>
      <p:sp>
        <p:nvSpPr>
          <p:cNvPr id="5" name="Footer Placeholder 4"/>
          <p:cNvSpPr>
            <a:spLocks noGrp="1"/>
          </p:cNvSpPr>
          <p:nvPr>
            <p:ph type="ftr" sz="quarter" idx="11"/>
          </p:nvPr>
        </p:nvSpPr>
        <p:spPr/>
        <p:txBody>
          <a:bodyPr/>
          <a:lstStyle/>
          <a:p>
            <a:r>
              <a:rPr lang="en-US"/>
              <a:t>GROUP 1</a:t>
            </a:r>
          </a:p>
        </p:txBody>
      </p:sp>
      <p:sp>
        <p:nvSpPr>
          <p:cNvPr id="6" name="Slide Number Placeholder 5"/>
          <p:cNvSpPr>
            <a:spLocks noGrp="1"/>
          </p:cNvSpPr>
          <p:nvPr>
            <p:ph type="sldNum" sz="quarter" idx="12"/>
          </p:nvPr>
        </p:nvSpPr>
        <p:spPr/>
        <p:txBody>
          <a:bodyPr/>
          <a:lstStyle/>
          <a:p>
            <a:fld id="{2B9F5B23-0EB3-4080-9B10-DAF3A0646904}"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00744" y="241739"/>
            <a:ext cx="2017987" cy="14489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086432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E0E087-36D6-4AF4-9098-7CCB9EDC4007}" type="datetime1">
              <a:rPr lang="en-US" smtClean="0"/>
              <a:t>4/14/2025</a:t>
            </a:fld>
            <a:endParaRPr lang="en-US"/>
          </a:p>
        </p:txBody>
      </p:sp>
      <p:sp>
        <p:nvSpPr>
          <p:cNvPr id="5" name="Footer Placeholder 4"/>
          <p:cNvSpPr>
            <a:spLocks noGrp="1"/>
          </p:cNvSpPr>
          <p:nvPr>
            <p:ph type="ftr" sz="quarter" idx="11"/>
          </p:nvPr>
        </p:nvSpPr>
        <p:spPr/>
        <p:txBody>
          <a:bodyPr/>
          <a:lstStyle/>
          <a:p>
            <a:r>
              <a:rPr lang="en-US"/>
              <a:t>GROUP 1</a:t>
            </a:r>
          </a:p>
        </p:txBody>
      </p:sp>
      <p:sp>
        <p:nvSpPr>
          <p:cNvPr id="6" name="Slide Number Placeholder 5"/>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3498505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914BD2-2807-44D6-8C6D-457586C90C19}" type="datetime1">
              <a:rPr lang="en-US" smtClean="0"/>
              <a:t>4/14/2025</a:t>
            </a:fld>
            <a:endParaRPr lang="en-US"/>
          </a:p>
        </p:txBody>
      </p:sp>
      <p:sp>
        <p:nvSpPr>
          <p:cNvPr id="6" name="Footer Placeholder 5"/>
          <p:cNvSpPr>
            <a:spLocks noGrp="1"/>
          </p:cNvSpPr>
          <p:nvPr>
            <p:ph type="ftr" sz="quarter" idx="11"/>
          </p:nvPr>
        </p:nvSpPr>
        <p:spPr/>
        <p:txBody>
          <a:bodyPr/>
          <a:lstStyle/>
          <a:p>
            <a:r>
              <a:rPr lang="en-US"/>
              <a:t>GROUP 1</a:t>
            </a:r>
          </a:p>
        </p:txBody>
      </p:sp>
      <p:sp>
        <p:nvSpPr>
          <p:cNvPr id="7" name="Slide Number Placeholder 6"/>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860348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D79266-1AB5-4251-830E-87642D0BAFE9}" type="datetime1">
              <a:rPr lang="en-US" smtClean="0"/>
              <a:t>4/14/2025</a:t>
            </a:fld>
            <a:endParaRPr lang="en-US"/>
          </a:p>
        </p:txBody>
      </p:sp>
      <p:sp>
        <p:nvSpPr>
          <p:cNvPr id="8" name="Footer Placeholder 7"/>
          <p:cNvSpPr>
            <a:spLocks noGrp="1"/>
          </p:cNvSpPr>
          <p:nvPr>
            <p:ph type="ftr" sz="quarter" idx="11"/>
          </p:nvPr>
        </p:nvSpPr>
        <p:spPr/>
        <p:txBody>
          <a:bodyPr/>
          <a:lstStyle/>
          <a:p>
            <a:r>
              <a:rPr lang="en-US"/>
              <a:t>GROUP 1</a:t>
            </a:r>
          </a:p>
        </p:txBody>
      </p:sp>
      <p:sp>
        <p:nvSpPr>
          <p:cNvPr id="9" name="Slide Number Placeholder 8"/>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735487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65D59C-61CA-4AB8-A5D2-EE8F7B63D120}" type="datetime1">
              <a:rPr lang="en-US" smtClean="0"/>
              <a:t>4/14/2025</a:t>
            </a:fld>
            <a:endParaRPr lang="en-US"/>
          </a:p>
        </p:txBody>
      </p:sp>
      <p:sp>
        <p:nvSpPr>
          <p:cNvPr id="4" name="Footer Placeholder 3"/>
          <p:cNvSpPr>
            <a:spLocks noGrp="1"/>
          </p:cNvSpPr>
          <p:nvPr>
            <p:ph type="ftr" sz="quarter" idx="11"/>
          </p:nvPr>
        </p:nvSpPr>
        <p:spPr/>
        <p:txBody>
          <a:bodyPr/>
          <a:lstStyle/>
          <a:p>
            <a:r>
              <a:rPr lang="en-US"/>
              <a:t>GROUP 1</a:t>
            </a:r>
          </a:p>
        </p:txBody>
      </p:sp>
      <p:sp>
        <p:nvSpPr>
          <p:cNvPr id="5" name="Slide Number Placeholder 4"/>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2198677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E3491E-610B-4BB5-8FA2-D09912049C5F}" type="datetime1">
              <a:rPr lang="en-US" smtClean="0"/>
              <a:t>4/14/2025</a:t>
            </a:fld>
            <a:endParaRPr lang="en-US"/>
          </a:p>
        </p:txBody>
      </p:sp>
      <p:sp>
        <p:nvSpPr>
          <p:cNvPr id="3" name="Footer Placeholder 2"/>
          <p:cNvSpPr>
            <a:spLocks noGrp="1"/>
          </p:cNvSpPr>
          <p:nvPr>
            <p:ph type="ftr" sz="quarter" idx="11"/>
          </p:nvPr>
        </p:nvSpPr>
        <p:spPr/>
        <p:txBody>
          <a:bodyPr/>
          <a:lstStyle/>
          <a:p>
            <a:r>
              <a:rPr lang="en-US"/>
              <a:t>GROUP 1</a:t>
            </a:r>
          </a:p>
        </p:txBody>
      </p:sp>
      <p:sp>
        <p:nvSpPr>
          <p:cNvPr id="4" name="Slide Number Placeholder 3"/>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1148000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599134-EA49-4246-8B90-E06AE1DEF338}" type="datetime1">
              <a:rPr lang="en-US" smtClean="0"/>
              <a:t>4/14/2025</a:t>
            </a:fld>
            <a:endParaRPr lang="en-US"/>
          </a:p>
        </p:txBody>
      </p:sp>
      <p:sp>
        <p:nvSpPr>
          <p:cNvPr id="6" name="Footer Placeholder 5"/>
          <p:cNvSpPr>
            <a:spLocks noGrp="1"/>
          </p:cNvSpPr>
          <p:nvPr>
            <p:ph type="ftr" sz="quarter" idx="11"/>
          </p:nvPr>
        </p:nvSpPr>
        <p:spPr/>
        <p:txBody>
          <a:bodyPr/>
          <a:lstStyle/>
          <a:p>
            <a:r>
              <a:rPr lang="en-US"/>
              <a:t>GROUP 1</a:t>
            </a:r>
          </a:p>
        </p:txBody>
      </p:sp>
      <p:sp>
        <p:nvSpPr>
          <p:cNvPr id="7" name="Slide Number Placeholder 6"/>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13568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E2C40DB-096B-4AEF-80D2-C772895AED45}" type="datetime1">
              <a:rPr lang="en-US" smtClean="0"/>
              <a:t>4/14/2025</a:t>
            </a:fld>
            <a:endParaRPr lang="en-US"/>
          </a:p>
        </p:txBody>
      </p:sp>
      <p:sp>
        <p:nvSpPr>
          <p:cNvPr id="6" name="Footer Placeholder 5"/>
          <p:cNvSpPr>
            <a:spLocks noGrp="1"/>
          </p:cNvSpPr>
          <p:nvPr>
            <p:ph type="ftr" sz="quarter" idx="11"/>
          </p:nvPr>
        </p:nvSpPr>
        <p:spPr/>
        <p:txBody>
          <a:bodyPr/>
          <a:lstStyle/>
          <a:p>
            <a:r>
              <a:rPr lang="en-US"/>
              <a:t>GROUP 1</a:t>
            </a:r>
          </a:p>
        </p:txBody>
      </p:sp>
      <p:sp>
        <p:nvSpPr>
          <p:cNvPr id="7" name="Slide Number Placeholder 6"/>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1398076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50AD8C-D4A8-4C55-A2CF-D2B9E1677BA3}" type="datetime1">
              <a:rPr lang="en-US" smtClean="0"/>
              <a:t>4/14/2025</a:t>
            </a:fld>
            <a:endParaRPr lang="en-US"/>
          </a:p>
        </p:txBody>
      </p:sp>
      <p:sp>
        <p:nvSpPr>
          <p:cNvPr id="5" name="Footer Placeholder 4"/>
          <p:cNvSpPr>
            <a:spLocks noGrp="1"/>
          </p:cNvSpPr>
          <p:nvPr>
            <p:ph type="ftr" sz="quarter" idx="11"/>
          </p:nvPr>
        </p:nvSpPr>
        <p:spPr/>
        <p:txBody>
          <a:bodyPr/>
          <a:lstStyle/>
          <a:p>
            <a:r>
              <a:rPr lang="en-US"/>
              <a:t>GROUP 1</a:t>
            </a:r>
          </a:p>
        </p:txBody>
      </p:sp>
      <p:sp>
        <p:nvSpPr>
          <p:cNvPr id="6" name="Slide Number Placeholder 5"/>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4225820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C3422F-92F6-4CF4-92BA-6D7847F4F237}" type="datetime1">
              <a:rPr lang="en-US" smtClean="0"/>
              <a:t>4/14/2025</a:t>
            </a:fld>
            <a:endParaRPr lang="en-US"/>
          </a:p>
        </p:txBody>
      </p:sp>
      <p:sp>
        <p:nvSpPr>
          <p:cNvPr id="5" name="Footer Placeholder 4"/>
          <p:cNvSpPr>
            <a:spLocks noGrp="1"/>
          </p:cNvSpPr>
          <p:nvPr>
            <p:ph type="ftr" sz="quarter" idx="11"/>
          </p:nvPr>
        </p:nvSpPr>
        <p:spPr/>
        <p:txBody>
          <a:bodyPr/>
          <a:lstStyle/>
          <a:p>
            <a:r>
              <a:rPr lang="en-US"/>
              <a:t>GROUP 1</a:t>
            </a:r>
          </a:p>
        </p:txBody>
      </p:sp>
      <p:sp>
        <p:nvSpPr>
          <p:cNvPr id="6" name="Slide Number Placeholder 5"/>
          <p:cNvSpPr>
            <a:spLocks noGrp="1"/>
          </p:cNvSpPr>
          <p:nvPr>
            <p:ph type="sldNum" sz="quarter" idx="12"/>
          </p:nvPr>
        </p:nvSpPr>
        <p:spPr/>
        <p:txBody>
          <a:bodyPr/>
          <a:lstStyle/>
          <a:p>
            <a:fld id="{2B9F5B23-0EB3-4080-9B10-DAF3A0646904}" type="slidenum">
              <a:rPr lang="en-US" smtClean="0"/>
              <a:t>‹#›</a:t>
            </a:fld>
            <a:endParaRPr lang="en-US"/>
          </a:p>
        </p:txBody>
      </p:sp>
    </p:spTree>
    <p:extLst>
      <p:ext uri="{BB962C8B-B14F-4D97-AF65-F5344CB8AC3E}">
        <p14:creationId xmlns:p14="http://schemas.microsoft.com/office/powerpoint/2010/main" val="3561581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88E606-7616-49F7-BC65-3F048B8493AD}" type="datetime1">
              <a:rPr lang="en-US" smtClean="0"/>
              <a:t>4/14/2025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GROUP 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9F5B23-0EB3-4080-9B10-DAF3A0646904}" type="slidenum">
              <a:rPr lang="en-US" smtClean="0"/>
              <a:t>‹#›</a:t>
            </a:fld>
            <a:endParaRPr lang="en-US"/>
          </a:p>
        </p:txBody>
      </p:sp>
    </p:spTree>
    <p:extLst>
      <p:ext uri="{BB962C8B-B14F-4D97-AF65-F5344CB8AC3E}">
        <p14:creationId xmlns:p14="http://schemas.microsoft.com/office/powerpoint/2010/main" val="687426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Algerian" panose="04020705040A02060702" pitchFamily="8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ieee.or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17755" y="2310581"/>
            <a:ext cx="11132147" cy="4385187"/>
          </a:xfrm>
        </p:spPr>
        <p:txBody>
          <a:bodyPr>
            <a:normAutofit fontScale="92500" lnSpcReduction="20000"/>
          </a:bodyPr>
          <a:lstStyle/>
          <a:p>
            <a:r>
              <a:rPr lang="en-GB" b="1" dirty="0"/>
              <a:t> </a:t>
            </a:r>
            <a:r>
              <a:rPr lang="en-GB" sz="4800" b="1" dirty="0"/>
              <a:t>A Double-Edged Sword for IT Professionals at MTN Uganda</a:t>
            </a:r>
          </a:p>
          <a:p>
            <a:endParaRPr lang="en-GB" b="1" dirty="0"/>
          </a:p>
          <a:p>
            <a:r>
              <a:rPr lang="en-GB" b="1" dirty="0"/>
              <a:t>BY</a:t>
            </a:r>
          </a:p>
          <a:p>
            <a:r>
              <a:rPr lang="en-GB" b="1" dirty="0"/>
              <a:t>GROUP 1</a:t>
            </a:r>
          </a:p>
          <a:p>
            <a:endParaRPr lang="en-GB" b="1" dirty="0"/>
          </a:p>
          <a:p>
            <a:r>
              <a:rPr lang="en-GB" b="1" dirty="0"/>
              <a:t>QUESTION:</a:t>
            </a:r>
          </a:p>
          <a:p>
            <a:endParaRPr lang="en-GB" b="1" dirty="0"/>
          </a:p>
          <a:p>
            <a:r>
              <a:rPr lang="en-GB" b="1" dirty="0"/>
              <a:t>Reflect on how your respective topic impacts or applies to your future role as an IT professional in an organization of your choice (20 marks)</a:t>
            </a:r>
          </a:p>
          <a:p>
            <a:pPr marL="342900" indent="-342900">
              <a:buFont typeface="Wingdings" panose="05000000000000000000" pitchFamily="2" charset="2"/>
              <a:buChar char="v"/>
            </a:pPr>
            <a:r>
              <a:rPr lang="en-GB" b="1" dirty="0"/>
              <a:t>IEEE Computer Society </a:t>
            </a:r>
          </a:p>
          <a:p>
            <a:endParaRPr lang="en-GB" b="1" dirty="0"/>
          </a:p>
          <a:p>
            <a:endParaRPr lang="en-GB" b="1" dirty="0"/>
          </a:p>
          <a:p>
            <a:endParaRPr lang="en-GB" b="1" dirty="0"/>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690" y="0"/>
            <a:ext cx="5970212" cy="200854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4293600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783E-41FC-41E2-6C85-96E47D28C090}"/>
              </a:ext>
            </a:extLst>
          </p:cNvPr>
          <p:cNvSpPr>
            <a:spLocks noGrp="1"/>
          </p:cNvSpPr>
          <p:nvPr>
            <p:ph type="title"/>
          </p:nvPr>
        </p:nvSpPr>
        <p:spPr>
          <a:xfrm>
            <a:off x="176981" y="-737419"/>
            <a:ext cx="11176819" cy="2428107"/>
          </a:xfrm>
        </p:spPr>
        <p:txBody>
          <a:bodyPr/>
          <a:lstStyle/>
          <a:p>
            <a:r>
              <a:rPr lang="en-GB" dirty="0"/>
              <a:t>GROUP MEMBERS</a:t>
            </a:r>
          </a:p>
        </p:txBody>
      </p:sp>
      <p:sp>
        <p:nvSpPr>
          <p:cNvPr id="3" name="Content Placeholder 2">
            <a:extLst>
              <a:ext uri="{FF2B5EF4-FFF2-40B4-BE49-F238E27FC236}">
                <a16:creationId xmlns:a16="http://schemas.microsoft.com/office/drawing/2014/main" id="{456E21C0-843F-92FD-FC91-D2F59767E1DE}"/>
              </a:ext>
            </a:extLst>
          </p:cNvPr>
          <p:cNvSpPr>
            <a:spLocks noGrp="1"/>
          </p:cNvSpPr>
          <p:nvPr>
            <p:ph idx="1"/>
          </p:nvPr>
        </p:nvSpPr>
        <p:spPr>
          <a:xfrm>
            <a:off x="176981" y="983226"/>
            <a:ext cx="10515600" cy="5515897"/>
          </a:xfrm>
        </p:spPr>
        <p:txBody>
          <a:bodyPr>
            <a:noAutofit/>
          </a:bodyPr>
          <a:lstStyle/>
          <a:p>
            <a:r>
              <a:rPr lang="en-GB" sz="2200" dirty="0"/>
              <a:t>Kadia Elizabeth VU-BSF-2407-1590-DAY</a:t>
            </a:r>
          </a:p>
          <a:p>
            <a:r>
              <a:rPr lang="en-GB" sz="2200" dirty="0"/>
              <a:t>Abdul Rahman Jasim VU-BSF-2407-2235-DAY</a:t>
            </a:r>
          </a:p>
          <a:p>
            <a:r>
              <a:rPr lang="en-GB" sz="2200" dirty="0"/>
              <a:t>Suubi Eleasha VU-BSF-2407-0678-DAY</a:t>
            </a:r>
          </a:p>
          <a:p>
            <a:r>
              <a:rPr lang="en-GB" sz="2200" dirty="0"/>
              <a:t>Mulungi Shirah PaulineVU-DIT-2407-1785-DAY</a:t>
            </a:r>
          </a:p>
          <a:p>
            <a:r>
              <a:rPr lang="en-GB" sz="2200" dirty="0"/>
              <a:t>Baluka Ritah VU-BIT-2407-1545-DAY</a:t>
            </a:r>
          </a:p>
          <a:p>
            <a:r>
              <a:rPr lang="en-GB" sz="2200" dirty="0"/>
              <a:t>Muhumuza Abia VU-BCS-2407-2257-DAY</a:t>
            </a:r>
          </a:p>
          <a:p>
            <a:r>
              <a:rPr lang="en-GB" sz="2200" dirty="0"/>
              <a:t>Namata Brenda Mildred VU-BIT-2407-0345-DAY</a:t>
            </a:r>
          </a:p>
          <a:p>
            <a:r>
              <a:rPr lang="en-GB" sz="2200" dirty="0"/>
              <a:t>Bukirwa Daisy Eleanor VU-DIT-2407-0570-DAY</a:t>
            </a:r>
          </a:p>
          <a:p>
            <a:r>
              <a:rPr lang="en-GB" sz="2200" dirty="0"/>
              <a:t>SSERUYANGE MARVIN VU-BSF-2407-2070-DAY</a:t>
            </a:r>
          </a:p>
          <a:p>
            <a:r>
              <a:rPr lang="en-GB" sz="2200" dirty="0"/>
              <a:t>Nabatanzi Norah Nuru VU-BSF-2407-1638-DAY</a:t>
            </a:r>
          </a:p>
          <a:p>
            <a:r>
              <a:rPr lang="en-GB" sz="2200" dirty="0"/>
              <a:t>Sina GloryVU-BSF-2407-1667-DAY</a:t>
            </a:r>
          </a:p>
          <a:p>
            <a:r>
              <a:rPr lang="en-GB" sz="2200" dirty="0"/>
              <a:t>Karungi FahimVU-DIT-2407-0772-DAY</a:t>
            </a:r>
          </a:p>
          <a:p>
            <a:r>
              <a:rPr lang="en-GB" sz="2200" dirty="0"/>
              <a:t>OPOLOT JOSHUAVU-BCS-2407-2269-DAY</a:t>
            </a:r>
          </a:p>
        </p:txBody>
      </p:sp>
      <p:sp>
        <p:nvSpPr>
          <p:cNvPr id="4" name="Footer Placeholder 3">
            <a:extLst>
              <a:ext uri="{FF2B5EF4-FFF2-40B4-BE49-F238E27FC236}">
                <a16:creationId xmlns:a16="http://schemas.microsoft.com/office/drawing/2014/main" id="{84355041-F3D9-FFAC-65A4-676F4767B235}"/>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F93174AD-8D9A-4473-5013-C1F648CDC857}"/>
              </a:ext>
            </a:extLst>
          </p:cNvPr>
          <p:cNvSpPr>
            <a:spLocks noGrp="1"/>
          </p:cNvSpPr>
          <p:nvPr>
            <p:ph type="sldNum" sz="quarter" idx="12"/>
          </p:nvPr>
        </p:nvSpPr>
        <p:spPr/>
        <p:txBody>
          <a:bodyPr/>
          <a:lstStyle/>
          <a:p>
            <a:fld id="{2B9F5B23-0EB3-4080-9B10-DAF3A0646904}" type="slidenum">
              <a:rPr lang="en-US" smtClean="0"/>
              <a:t>2</a:t>
            </a:fld>
            <a:endParaRPr lang="en-US"/>
          </a:p>
        </p:txBody>
      </p:sp>
    </p:spTree>
    <p:extLst>
      <p:ext uri="{BB962C8B-B14F-4D97-AF65-F5344CB8AC3E}">
        <p14:creationId xmlns:p14="http://schemas.microsoft.com/office/powerpoint/2010/main" val="2068627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p:sp>
        <p:nvSpPr>
          <p:cNvPr id="3" name="Content Placeholder 2"/>
          <p:cNvSpPr>
            <a:spLocks noGrp="1"/>
          </p:cNvSpPr>
          <p:nvPr>
            <p:ph idx="1"/>
          </p:nvPr>
        </p:nvSpPr>
        <p:spPr/>
        <p:txBody>
          <a:bodyPr>
            <a:normAutofit fontScale="92500" lnSpcReduction="10000"/>
          </a:bodyPr>
          <a:lstStyle/>
          <a:p>
            <a:r>
              <a:rPr lang="en-US" dirty="0"/>
              <a:t>In the ever-evolving world of technology, staying relevant, skilled, and ethically grounded is essential for any aspiring IT professional. One organization that stands at the forefront of this mission is the IEEE Computer Society (IEEE CS)—a globally respected body dedicated to advancing computing and IT excellence. </a:t>
            </a:r>
          </a:p>
          <a:p>
            <a:r>
              <a:rPr lang="en-US" dirty="0"/>
              <a:t>Founded in 1946 as the Professional Group on Electronic Computers within the Institute of Radio Engineers (IRE), the society was created in response to the growing need for structured collaboration and knowledge exchange among early computer scientists and engineers. </a:t>
            </a:r>
          </a:p>
          <a:p>
            <a:r>
              <a:rPr lang="en-US" dirty="0"/>
              <a:t>It officially became the IEEE Computer Society in 1963 following the merger that formed the Institute of Electrical and Electronics Engineers (IEEE).</a:t>
            </a:r>
          </a:p>
        </p:txBody>
      </p:sp>
      <p:sp>
        <p:nvSpPr>
          <p:cNvPr id="4" name="Footer Placeholder 3">
            <a:extLst>
              <a:ext uri="{FF2B5EF4-FFF2-40B4-BE49-F238E27FC236}">
                <a16:creationId xmlns:a16="http://schemas.microsoft.com/office/drawing/2014/main" id="{9B8751FC-194D-20D6-9B9B-EE1E57BCDBC2}"/>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4B07C509-5D6D-E3CF-E494-E761A22528FF}"/>
              </a:ext>
            </a:extLst>
          </p:cNvPr>
          <p:cNvSpPr>
            <a:spLocks noGrp="1"/>
          </p:cNvSpPr>
          <p:nvPr>
            <p:ph type="sldNum" sz="quarter" idx="12"/>
          </p:nvPr>
        </p:nvSpPr>
        <p:spPr/>
        <p:txBody>
          <a:bodyPr/>
          <a:lstStyle/>
          <a:p>
            <a:fld id="{2B9F5B23-0EB3-4080-9B10-DAF3A0646904}" type="slidenum">
              <a:rPr lang="en-US" smtClean="0"/>
              <a:t>3</a:t>
            </a:fld>
            <a:endParaRPr lang="en-US"/>
          </a:p>
        </p:txBody>
      </p:sp>
    </p:spTree>
    <p:extLst>
      <p:ext uri="{BB962C8B-B14F-4D97-AF65-F5344CB8AC3E}">
        <p14:creationId xmlns:p14="http://schemas.microsoft.com/office/powerpoint/2010/main" val="566069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8EE1-CC06-1E2A-12C8-1C478EC71313}"/>
              </a:ext>
            </a:extLst>
          </p:cNvPr>
          <p:cNvSpPr>
            <a:spLocks noGrp="1"/>
          </p:cNvSpPr>
          <p:nvPr>
            <p:ph type="title"/>
          </p:nvPr>
        </p:nvSpPr>
        <p:spPr/>
        <p:txBody>
          <a:bodyPr/>
          <a:lstStyle/>
          <a:p>
            <a:r>
              <a:rPr lang="en-GB" dirty="0"/>
              <a:t>Purpose of the IEEE Computer Society</a:t>
            </a:r>
          </a:p>
        </p:txBody>
      </p:sp>
      <p:sp>
        <p:nvSpPr>
          <p:cNvPr id="3" name="Content Placeholder 2">
            <a:extLst>
              <a:ext uri="{FF2B5EF4-FFF2-40B4-BE49-F238E27FC236}">
                <a16:creationId xmlns:a16="http://schemas.microsoft.com/office/drawing/2014/main" id="{365AB376-2614-37DA-8AE1-594467B6A59D}"/>
              </a:ext>
            </a:extLst>
          </p:cNvPr>
          <p:cNvSpPr>
            <a:spLocks noGrp="1"/>
          </p:cNvSpPr>
          <p:nvPr>
            <p:ph idx="1"/>
          </p:nvPr>
        </p:nvSpPr>
        <p:spPr/>
        <p:txBody>
          <a:bodyPr>
            <a:normAutofit/>
          </a:bodyPr>
          <a:lstStyle/>
          <a:p>
            <a:r>
              <a:rPr lang="en-GB" sz="4000" dirty="0"/>
              <a:t>Promotes innovation in computing and technology.</a:t>
            </a:r>
          </a:p>
          <a:p>
            <a:r>
              <a:rPr lang="en-GB" sz="4000" dirty="0"/>
              <a:t>Encourages ethical behaviour and professional growth.</a:t>
            </a:r>
          </a:p>
          <a:p>
            <a:r>
              <a:rPr lang="en-GB" sz="4000" dirty="0"/>
              <a:t>Bridges the gap between academic learning and professional practice.</a:t>
            </a:r>
          </a:p>
        </p:txBody>
      </p:sp>
      <p:sp>
        <p:nvSpPr>
          <p:cNvPr id="4" name="Footer Placeholder 3">
            <a:extLst>
              <a:ext uri="{FF2B5EF4-FFF2-40B4-BE49-F238E27FC236}">
                <a16:creationId xmlns:a16="http://schemas.microsoft.com/office/drawing/2014/main" id="{A73621EE-175A-4EAE-00BE-2298F36E5111}"/>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E0BD864A-A869-202B-775C-9A1D2E19C096}"/>
              </a:ext>
            </a:extLst>
          </p:cNvPr>
          <p:cNvSpPr>
            <a:spLocks noGrp="1"/>
          </p:cNvSpPr>
          <p:nvPr>
            <p:ph type="sldNum" sz="quarter" idx="12"/>
          </p:nvPr>
        </p:nvSpPr>
        <p:spPr/>
        <p:txBody>
          <a:bodyPr/>
          <a:lstStyle/>
          <a:p>
            <a:fld id="{2B9F5B23-0EB3-4080-9B10-DAF3A0646904}" type="slidenum">
              <a:rPr lang="en-US" smtClean="0"/>
              <a:t>4</a:t>
            </a:fld>
            <a:endParaRPr lang="en-US"/>
          </a:p>
        </p:txBody>
      </p:sp>
    </p:spTree>
    <p:extLst>
      <p:ext uri="{BB962C8B-B14F-4D97-AF65-F5344CB8AC3E}">
        <p14:creationId xmlns:p14="http://schemas.microsoft.com/office/powerpoint/2010/main" val="767041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19C3-5954-EBC9-2F74-3BFA2CA4F966}"/>
              </a:ext>
            </a:extLst>
          </p:cNvPr>
          <p:cNvSpPr>
            <a:spLocks noGrp="1"/>
          </p:cNvSpPr>
          <p:nvPr>
            <p:ph type="title"/>
          </p:nvPr>
        </p:nvSpPr>
        <p:spPr>
          <a:xfrm>
            <a:off x="0" y="-231228"/>
            <a:ext cx="9616966" cy="1734207"/>
          </a:xfrm>
        </p:spPr>
        <p:txBody>
          <a:bodyPr>
            <a:normAutofit/>
          </a:bodyPr>
          <a:lstStyle/>
          <a:p>
            <a:r>
              <a:rPr lang="en-GB" dirty="0"/>
              <a:t>Objectives of the IEEE Computer Society</a:t>
            </a:r>
          </a:p>
        </p:txBody>
      </p:sp>
      <p:sp>
        <p:nvSpPr>
          <p:cNvPr id="3" name="Content Placeholder 2">
            <a:extLst>
              <a:ext uri="{FF2B5EF4-FFF2-40B4-BE49-F238E27FC236}">
                <a16:creationId xmlns:a16="http://schemas.microsoft.com/office/drawing/2014/main" id="{C1596E35-1CBC-BCA0-F049-1BD4289254A6}"/>
              </a:ext>
            </a:extLst>
          </p:cNvPr>
          <p:cNvSpPr>
            <a:spLocks noGrp="1"/>
          </p:cNvSpPr>
          <p:nvPr>
            <p:ph idx="1"/>
          </p:nvPr>
        </p:nvSpPr>
        <p:spPr>
          <a:xfrm>
            <a:off x="178676" y="1671145"/>
            <a:ext cx="11175124" cy="4505818"/>
          </a:xfrm>
        </p:spPr>
        <p:txBody>
          <a:bodyPr>
            <a:normAutofit/>
          </a:bodyPr>
          <a:lstStyle/>
          <a:p>
            <a:r>
              <a:rPr lang="en-GB" sz="4000" dirty="0"/>
              <a:t>Develop and support professional education programs.</a:t>
            </a:r>
          </a:p>
          <a:p>
            <a:r>
              <a:rPr lang="en-GB" sz="4000" dirty="0"/>
              <a:t>Provide a platform for research publication and idea exchange.</a:t>
            </a:r>
          </a:p>
          <a:p>
            <a:r>
              <a:rPr lang="en-GB" sz="4000" dirty="0"/>
              <a:t>Promote standards and ethical computing practices.</a:t>
            </a:r>
          </a:p>
          <a:p>
            <a:r>
              <a:rPr lang="en-GB" sz="4000" dirty="0"/>
              <a:t>Engage students and early career professionals in technical development.</a:t>
            </a:r>
          </a:p>
        </p:txBody>
      </p:sp>
      <p:sp>
        <p:nvSpPr>
          <p:cNvPr id="4" name="Footer Placeholder 3">
            <a:extLst>
              <a:ext uri="{FF2B5EF4-FFF2-40B4-BE49-F238E27FC236}">
                <a16:creationId xmlns:a16="http://schemas.microsoft.com/office/drawing/2014/main" id="{94CD9E4F-3241-EB4E-0D41-67F9E9EF0459}"/>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BEECFB9C-3BC6-F9F6-5B2F-FD76BA0FEADE}"/>
              </a:ext>
            </a:extLst>
          </p:cNvPr>
          <p:cNvSpPr>
            <a:spLocks noGrp="1"/>
          </p:cNvSpPr>
          <p:nvPr>
            <p:ph type="sldNum" sz="quarter" idx="12"/>
          </p:nvPr>
        </p:nvSpPr>
        <p:spPr/>
        <p:txBody>
          <a:bodyPr/>
          <a:lstStyle/>
          <a:p>
            <a:fld id="{2B9F5B23-0EB3-4080-9B10-DAF3A0646904}" type="slidenum">
              <a:rPr lang="en-US" smtClean="0"/>
              <a:t>5</a:t>
            </a:fld>
            <a:endParaRPr lang="en-US"/>
          </a:p>
        </p:txBody>
      </p:sp>
    </p:spTree>
    <p:extLst>
      <p:ext uri="{BB962C8B-B14F-4D97-AF65-F5344CB8AC3E}">
        <p14:creationId xmlns:p14="http://schemas.microsoft.com/office/powerpoint/2010/main" val="3621434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B32A8-B337-1B7D-D520-96BC4F7BD596}"/>
              </a:ext>
            </a:extLst>
          </p:cNvPr>
          <p:cNvSpPr>
            <a:spLocks noGrp="1"/>
          </p:cNvSpPr>
          <p:nvPr>
            <p:ph type="title"/>
          </p:nvPr>
        </p:nvSpPr>
        <p:spPr>
          <a:xfrm>
            <a:off x="115614" y="210207"/>
            <a:ext cx="9438289" cy="1480482"/>
          </a:xfrm>
        </p:spPr>
        <p:txBody>
          <a:bodyPr/>
          <a:lstStyle/>
          <a:p>
            <a:r>
              <a:rPr lang="en-GB" dirty="0"/>
              <a:t>Key Activities of the IEEE Computer Society</a:t>
            </a:r>
          </a:p>
        </p:txBody>
      </p:sp>
      <p:sp>
        <p:nvSpPr>
          <p:cNvPr id="3" name="Content Placeholder 2">
            <a:extLst>
              <a:ext uri="{FF2B5EF4-FFF2-40B4-BE49-F238E27FC236}">
                <a16:creationId xmlns:a16="http://schemas.microsoft.com/office/drawing/2014/main" id="{D2AA7BC4-F6FC-D622-516B-2B09E19BCF4A}"/>
              </a:ext>
            </a:extLst>
          </p:cNvPr>
          <p:cNvSpPr>
            <a:spLocks noGrp="1"/>
          </p:cNvSpPr>
          <p:nvPr>
            <p:ph idx="1"/>
          </p:nvPr>
        </p:nvSpPr>
        <p:spPr>
          <a:xfrm>
            <a:off x="115614" y="1797269"/>
            <a:ext cx="11238186" cy="4379694"/>
          </a:xfrm>
        </p:spPr>
        <p:txBody>
          <a:bodyPr>
            <a:normAutofit/>
          </a:bodyPr>
          <a:lstStyle/>
          <a:p>
            <a:r>
              <a:rPr lang="en-GB" sz="4000" dirty="0"/>
              <a:t>Hosting over 200 conferences yearly worldwide.</a:t>
            </a:r>
          </a:p>
          <a:p>
            <a:r>
              <a:rPr lang="en-GB" sz="4000" dirty="0"/>
              <a:t>Maintaining the IEEE Xplore Digital Library.</a:t>
            </a:r>
          </a:p>
          <a:p>
            <a:r>
              <a:rPr lang="en-GB" sz="4000" dirty="0"/>
              <a:t>Running certification programs (e.g., Certified Software Development Professional).</a:t>
            </a:r>
          </a:p>
          <a:p>
            <a:r>
              <a:rPr lang="en-GB" sz="4000" dirty="0"/>
              <a:t>Offering scholarships, competitions, and hackathons for students.</a:t>
            </a:r>
          </a:p>
        </p:txBody>
      </p:sp>
      <p:sp>
        <p:nvSpPr>
          <p:cNvPr id="4" name="Footer Placeholder 3">
            <a:extLst>
              <a:ext uri="{FF2B5EF4-FFF2-40B4-BE49-F238E27FC236}">
                <a16:creationId xmlns:a16="http://schemas.microsoft.com/office/drawing/2014/main" id="{323BD9F2-9D02-D816-BAC0-107C45567E15}"/>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9DCAD5AE-05AA-49D1-A3C8-C77C148AD0B4}"/>
              </a:ext>
            </a:extLst>
          </p:cNvPr>
          <p:cNvSpPr>
            <a:spLocks noGrp="1"/>
          </p:cNvSpPr>
          <p:nvPr>
            <p:ph type="sldNum" sz="quarter" idx="12"/>
          </p:nvPr>
        </p:nvSpPr>
        <p:spPr/>
        <p:txBody>
          <a:bodyPr/>
          <a:lstStyle/>
          <a:p>
            <a:fld id="{2B9F5B23-0EB3-4080-9B10-DAF3A0646904}" type="slidenum">
              <a:rPr lang="en-US" smtClean="0"/>
              <a:t>6</a:t>
            </a:fld>
            <a:endParaRPr lang="en-US"/>
          </a:p>
        </p:txBody>
      </p:sp>
    </p:spTree>
    <p:extLst>
      <p:ext uri="{BB962C8B-B14F-4D97-AF65-F5344CB8AC3E}">
        <p14:creationId xmlns:p14="http://schemas.microsoft.com/office/powerpoint/2010/main" val="3199139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8F061-A6D8-D156-10B5-1D53E822704B}"/>
              </a:ext>
            </a:extLst>
          </p:cNvPr>
          <p:cNvSpPr>
            <a:spLocks noGrp="1"/>
          </p:cNvSpPr>
          <p:nvPr>
            <p:ph type="title"/>
          </p:nvPr>
        </p:nvSpPr>
        <p:spPr>
          <a:xfrm>
            <a:off x="386255" y="320675"/>
            <a:ext cx="10515600" cy="1325563"/>
          </a:xfrm>
        </p:spPr>
        <p:txBody>
          <a:bodyPr/>
          <a:lstStyle/>
          <a:p>
            <a:r>
              <a:rPr lang="en-GB" dirty="0"/>
              <a:t> Membership Details</a:t>
            </a:r>
          </a:p>
        </p:txBody>
      </p:sp>
      <p:sp>
        <p:nvSpPr>
          <p:cNvPr id="3" name="Content Placeholder 2">
            <a:extLst>
              <a:ext uri="{FF2B5EF4-FFF2-40B4-BE49-F238E27FC236}">
                <a16:creationId xmlns:a16="http://schemas.microsoft.com/office/drawing/2014/main" id="{3575B08B-FE31-C675-5A02-72A48ABEDF29}"/>
              </a:ext>
            </a:extLst>
          </p:cNvPr>
          <p:cNvSpPr>
            <a:spLocks noGrp="1"/>
          </p:cNvSpPr>
          <p:nvPr>
            <p:ph idx="1"/>
          </p:nvPr>
        </p:nvSpPr>
        <p:spPr>
          <a:xfrm>
            <a:off x="386255" y="1646238"/>
            <a:ext cx="10967545" cy="4530725"/>
          </a:xfrm>
        </p:spPr>
        <p:txBody>
          <a:bodyPr/>
          <a:lstStyle/>
          <a:p>
            <a:r>
              <a:rPr lang="en-GB" dirty="0"/>
              <a:t>Eligibility: Open to students, professionals, academics, and researchers.</a:t>
            </a:r>
          </a:p>
          <a:p>
            <a:pPr marL="0" indent="0">
              <a:buNone/>
            </a:pPr>
            <a:endParaRPr lang="en-GB" dirty="0"/>
          </a:p>
          <a:p>
            <a:pPr marL="0" indent="0">
              <a:buNone/>
            </a:pPr>
            <a:r>
              <a:rPr lang="en-GB" dirty="0"/>
              <a:t>How to Join:</a:t>
            </a:r>
          </a:p>
          <a:p>
            <a:r>
              <a:rPr lang="en-GB" dirty="0"/>
              <a:t>Visit </a:t>
            </a:r>
            <a:r>
              <a:rPr lang="en-GB" dirty="0">
                <a:hlinkClick r:id="rId2"/>
              </a:rPr>
              <a:t>https://www.ieee.org/</a:t>
            </a:r>
            <a:endParaRPr lang="en-GB" dirty="0"/>
          </a:p>
          <a:p>
            <a:r>
              <a:rPr lang="en-GB" dirty="0"/>
              <a:t>Fill in personal and professional details</a:t>
            </a:r>
          </a:p>
          <a:p>
            <a:r>
              <a:rPr lang="en-GB" dirty="0"/>
              <a:t>Pay an annual membership fee which is;</a:t>
            </a:r>
          </a:p>
          <a:p>
            <a:pPr algn="l">
              <a:lnSpc>
                <a:spcPts val="1650"/>
              </a:lnSpc>
              <a:spcBef>
                <a:spcPts val="750"/>
              </a:spcBef>
              <a:spcAft>
                <a:spcPts val="600"/>
              </a:spcAft>
              <a:buFont typeface="Wingdings" panose="05000000000000000000" pitchFamily="2" charset="2"/>
              <a:buChar char="Ø"/>
            </a:pPr>
            <a:r>
              <a:rPr lang="en-GB" i="0" dirty="0">
                <a:solidFill>
                  <a:schemeClr val="tx1">
                    <a:lumMod val="75000"/>
                    <a:lumOff val="25000"/>
                  </a:schemeClr>
                </a:solidFill>
                <a:effectLst/>
              </a:rPr>
              <a:t>IEEE Membership (Professional): $115.50</a:t>
            </a:r>
          </a:p>
          <a:p>
            <a:pPr algn="l">
              <a:lnSpc>
                <a:spcPts val="1650"/>
              </a:lnSpc>
              <a:spcBef>
                <a:spcPts val="750"/>
              </a:spcBef>
              <a:spcAft>
                <a:spcPts val="600"/>
              </a:spcAft>
              <a:buFont typeface="Wingdings" panose="05000000000000000000" pitchFamily="2" charset="2"/>
              <a:buChar char="Ø"/>
            </a:pPr>
            <a:r>
              <a:rPr lang="en-GB" i="0" dirty="0">
                <a:solidFill>
                  <a:schemeClr val="tx1">
                    <a:lumMod val="75000"/>
                    <a:lumOff val="25000"/>
                  </a:schemeClr>
                </a:solidFill>
                <a:effectLst/>
              </a:rPr>
              <a:t>IEEE Membership (Student): $16.00</a:t>
            </a:r>
          </a:p>
          <a:p>
            <a:endParaRPr lang="en-GB" dirty="0"/>
          </a:p>
        </p:txBody>
      </p:sp>
      <p:sp>
        <p:nvSpPr>
          <p:cNvPr id="4" name="Footer Placeholder 3">
            <a:extLst>
              <a:ext uri="{FF2B5EF4-FFF2-40B4-BE49-F238E27FC236}">
                <a16:creationId xmlns:a16="http://schemas.microsoft.com/office/drawing/2014/main" id="{126CFEFC-22E8-99F0-A162-825BA137C994}"/>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A6136081-9938-EF49-0041-DCF0F5F8B725}"/>
              </a:ext>
            </a:extLst>
          </p:cNvPr>
          <p:cNvSpPr>
            <a:spLocks noGrp="1"/>
          </p:cNvSpPr>
          <p:nvPr>
            <p:ph type="sldNum" sz="quarter" idx="12"/>
          </p:nvPr>
        </p:nvSpPr>
        <p:spPr/>
        <p:txBody>
          <a:bodyPr/>
          <a:lstStyle/>
          <a:p>
            <a:fld id="{2B9F5B23-0EB3-4080-9B10-DAF3A0646904}" type="slidenum">
              <a:rPr lang="en-US" smtClean="0"/>
              <a:t>7</a:t>
            </a:fld>
            <a:endParaRPr lang="en-US"/>
          </a:p>
        </p:txBody>
      </p:sp>
    </p:spTree>
    <p:extLst>
      <p:ext uri="{BB962C8B-B14F-4D97-AF65-F5344CB8AC3E}">
        <p14:creationId xmlns:p14="http://schemas.microsoft.com/office/powerpoint/2010/main" val="141905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60A96-4FF3-ED43-2076-0BC3A471AEA2}"/>
              </a:ext>
            </a:extLst>
          </p:cNvPr>
          <p:cNvSpPr>
            <a:spLocks noGrp="1"/>
          </p:cNvSpPr>
          <p:nvPr>
            <p:ph type="title"/>
          </p:nvPr>
        </p:nvSpPr>
        <p:spPr/>
        <p:txBody>
          <a:bodyPr/>
          <a:lstStyle/>
          <a:p>
            <a:r>
              <a:rPr lang="en-GB" dirty="0"/>
              <a:t> Professional Guidelines</a:t>
            </a:r>
          </a:p>
        </p:txBody>
      </p:sp>
      <p:sp>
        <p:nvSpPr>
          <p:cNvPr id="3" name="Content Placeholder 2">
            <a:extLst>
              <a:ext uri="{FF2B5EF4-FFF2-40B4-BE49-F238E27FC236}">
                <a16:creationId xmlns:a16="http://schemas.microsoft.com/office/drawing/2014/main" id="{FC3B194E-15A8-099B-745A-E202EA5A20AF}"/>
              </a:ext>
            </a:extLst>
          </p:cNvPr>
          <p:cNvSpPr>
            <a:spLocks noGrp="1"/>
          </p:cNvSpPr>
          <p:nvPr>
            <p:ph idx="1"/>
          </p:nvPr>
        </p:nvSpPr>
        <p:spPr/>
        <p:txBody>
          <a:bodyPr>
            <a:normAutofit/>
          </a:bodyPr>
          <a:lstStyle/>
          <a:p>
            <a:r>
              <a:rPr lang="en-GB" sz="4000" dirty="0"/>
              <a:t>Integrity and honesty</a:t>
            </a:r>
          </a:p>
          <a:p>
            <a:r>
              <a:rPr lang="en-GB" sz="4000" dirty="0"/>
              <a:t>Fairness and justice</a:t>
            </a:r>
          </a:p>
          <a:p>
            <a:r>
              <a:rPr lang="en-GB" sz="4000" dirty="0"/>
              <a:t>Accountability and responsibility</a:t>
            </a:r>
          </a:p>
          <a:p>
            <a:r>
              <a:rPr lang="en-GB" sz="4000" dirty="0"/>
              <a:t>Technical excellence and innovation</a:t>
            </a:r>
          </a:p>
          <a:p>
            <a:r>
              <a:rPr lang="en-GB" sz="4000" dirty="0"/>
              <a:t>Respect for privacy and confidentiality</a:t>
            </a:r>
          </a:p>
        </p:txBody>
      </p:sp>
      <p:sp>
        <p:nvSpPr>
          <p:cNvPr id="4" name="Footer Placeholder 3">
            <a:extLst>
              <a:ext uri="{FF2B5EF4-FFF2-40B4-BE49-F238E27FC236}">
                <a16:creationId xmlns:a16="http://schemas.microsoft.com/office/drawing/2014/main" id="{00D3E482-4DA2-D03A-9D34-6A510AEE4962}"/>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353A623E-850C-5EFA-319B-F5DFE56C638A}"/>
              </a:ext>
            </a:extLst>
          </p:cNvPr>
          <p:cNvSpPr>
            <a:spLocks noGrp="1"/>
          </p:cNvSpPr>
          <p:nvPr>
            <p:ph type="sldNum" sz="quarter" idx="12"/>
          </p:nvPr>
        </p:nvSpPr>
        <p:spPr/>
        <p:txBody>
          <a:bodyPr/>
          <a:lstStyle/>
          <a:p>
            <a:fld id="{2B9F5B23-0EB3-4080-9B10-DAF3A0646904}" type="slidenum">
              <a:rPr lang="en-US" smtClean="0"/>
              <a:t>8</a:t>
            </a:fld>
            <a:endParaRPr lang="en-US"/>
          </a:p>
        </p:txBody>
      </p:sp>
    </p:spTree>
    <p:extLst>
      <p:ext uri="{BB962C8B-B14F-4D97-AF65-F5344CB8AC3E}">
        <p14:creationId xmlns:p14="http://schemas.microsoft.com/office/powerpoint/2010/main" val="266401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C6F8-36AF-F3F7-A4F5-B9FA2F75FF09}"/>
              </a:ext>
            </a:extLst>
          </p:cNvPr>
          <p:cNvSpPr>
            <a:spLocks noGrp="1"/>
          </p:cNvSpPr>
          <p:nvPr>
            <p:ph type="title"/>
          </p:nvPr>
        </p:nvSpPr>
        <p:spPr>
          <a:xfrm>
            <a:off x="0" y="1"/>
            <a:ext cx="11353800" cy="1166647"/>
          </a:xfrm>
        </p:spPr>
        <p:txBody>
          <a:bodyPr/>
          <a:lstStyle/>
          <a:p>
            <a:r>
              <a:rPr lang="en-GB" dirty="0"/>
              <a:t> IEEE Code of Conduct</a:t>
            </a:r>
          </a:p>
        </p:txBody>
      </p:sp>
      <p:sp>
        <p:nvSpPr>
          <p:cNvPr id="3" name="Content Placeholder 2">
            <a:extLst>
              <a:ext uri="{FF2B5EF4-FFF2-40B4-BE49-F238E27FC236}">
                <a16:creationId xmlns:a16="http://schemas.microsoft.com/office/drawing/2014/main" id="{F8B6F75E-8D9F-EB1E-1BE6-16CCFB250075}"/>
              </a:ext>
            </a:extLst>
          </p:cNvPr>
          <p:cNvSpPr>
            <a:spLocks noGrp="1"/>
          </p:cNvSpPr>
          <p:nvPr>
            <p:ph idx="1"/>
          </p:nvPr>
        </p:nvSpPr>
        <p:spPr>
          <a:xfrm>
            <a:off x="241738" y="1093076"/>
            <a:ext cx="10216055" cy="5465379"/>
          </a:xfrm>
        </p:spPr>
        <p:txBody>
          <a:bodyPr>
            <a:normAutofit/>
          </a:bodyPr>
          <a:lstStyle/>
          <a:p>
            <a:r>
              <a:rPr lang="en-GB" dirty="0"/>
              <a:t>1. To accept responsibility for our work and to be honest and realistic in stating claims.</a:t>
            </a:r>
          </a:p>
          <a:p>
            <a:r>
              <a:rPr lang="en-GB" dirty="0"/>
              <a:t>2. To improve understanding of technology, its application, and consequences.</a:t>
            </a:r>
          </a:p>
          <a:p>
            <a:r>
              <a:rPr lang="en-GB" dirty="0"/>
              <a:t>3. To maintain and improve competence and support others in professional development.</a:t>
            </a:r>
          </a:p>
          <a:p>
            <a:r>
              <a:rPr lang="en-GB" dirty="0"/>
              <a:t>4. To treat all persons fairly and with respect.</a:t>
            </a:r>
          </a:p>
          <a:p>
            <a:r>
              <a:rPr lang="en-GB" dirty="0"/>
              <a:t>5. To avoid injuring others, their property, reputation, or employment.</a:t>
            </a:r>
          </a:p>
          <a:p>
            <a:r>
              <a:rPr lang="en-GB" dirty="0"/>
              <a:t>6. To assist colleagues and co-workers in their professional development.</a:t>
            </a:r>
          </a:p>
        </p:txBody>
      </p:sp>
      <p:sp>
        <p:nvSpPr>
          <p:cNvPr id="4" name="Footer Placeholder 3">
            <a:extLst>
              <a:ext uri="{FF2B5EF4-FFF2-40B4-BE49-F238E27FC236}">
                <a16:creationId xmlns:a16="http://schemas.microsoft.com/office/drawing/2014/main" id="{78206FBA-18DB-DE9A-0BB4-B17FBA88B328}"/>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1DACF484-5C85-D8CF-7B91-CFD786B00724}"/>
              </a:ext>
            </a:extLst>
          </p:cNvPr>
          <p:cNvSpPr>
            <a:spLocks noGrp="1"/>
          </p:cNvSpPr>
          <p:nvPr>
            <p:ph type="sldNum" sz="quarter" idx="12"/>
          </p:nvPr>
        </p:nvSpPr>
        <p:spPr/>
        <p:txBody>
          <a:bodyPr/>
          <a:lstStyle/>
          <a:p>
            <a:fld id="{2B9F5B23-0EB3-4080-9B10-DAF3A0646904}" type="slidenum">
              <a:rPr lang="en-US" smtClean="0"/>
              <a:t>9</a:t>
            </a:fld>
            <a:endParaRPr lang="en-US"/>
          </a:p>
        </p:txBody>
      </p:sp>
    </p:spTree>
    <p:extLst>
      <p:ext uri="{BB962C8B-B14F-4D97-AF65-F5344CB8AC3E}">
        <p14:creationId xmlns:p14="http://schemas.microsoft.com/office/powerpoint/2010/main" val="1737749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756B-2B86-960D-AE0A-866553871B8A}"/>
              </a:ext>
            </a:extLst>
          </p:cNvPr>
          <p:cNvSpPr>
            <a:spLocks noGrp="1"/>
          </p:cNvSpPr>
          <p:nvPr>
            <p:ph type="title"/>
          </p:nvPr>
        </p:nvSpPr>
        <p:spPr>
          <a:xfrm>
            <a:off x="84083" y="-651641"/>
            <a:ext cx="11269717" cy="2342329"/>
          </a:xfrm>
        </p:spPr>
        <p:txBody>
          <a:bodyPr/>
          <a:lstStyle/>
          <a:p>
            <a:r>
              <a:rPr lang="en-GB" dirty="0"/>
              <a:t> Global Relevance of IEEE</a:t>
            </a:r>
          </a:p>
        </p:txBody>
      </p:sp>
      <p:sp>
        <p:nvSpPr>
          <p:cNvPr id="3" name="Content Placeholder 2">
            <a:extLst>
              <a:ext uri="{FF2B5EF4-FFF2-40B4-BE49-F238E27FC236}">
                <a16:creationId xmlns:a16="http://schemas.microsoft.com/office/drawing/2014/main" id="{5C1168DB-D016-C59E-8B5C-57757A8D7B0A}"/>
              </a:ext>
            </a:extLst>
          </p:cNvPr>
          <p:cNvSpPr>
            <a:spLocks noGrp="1"/>
          </p:cNvSpPr>
          <p:nvPr>
            <p:ph idx="1"/>
          </p:nvPr>
        </p:nvSpPr>
        <p:spPr>
          <a:xfrm>
            <a:off x="178676" y="1376855"/>
            <a:ext cx="10415752" cy="4800107"/>
          </a:xfrm>
        </p:spPr>
        <p:txBody>
          <a:bodyPr/>
          <a:lstStyle/>
          <a:p>
            <a:r>
              <a:rPr lang="en-GB" sz="4000" dirty="0"/>
              <a:t>IEEE sets standards used by tech giants (e.g., Wi-Fi standards, AI ethics).</a:t>
            </a:r>
          </a:p>
          <a:p>
            <a:r>
              <a:rPr lang="en-GB" sz="4000" dirty="0"/>
              <a:t>The IEEE Global Humanitarian Technology Conference inspires innovation to address social challenges.</a:t>
            </a:r>
          </a:p>
          <a:p>
            <a:r>
              <a:rPr lang="en-GB" sz="4000" dirty="0"/>
              <a:t>IEEE supports startups and developers in regions like Africa and Asia</a:t>
            </a:r>
            <a:r>
              <a:rPr lang="en-GB" dirty="0"/>
              <a:t>.</a:t>
            </a:r>
          </a:p>
        </p:txBody>
      </p:sp>
      <p:sp>
        <p:nvSpPr>
          <p:cNvPr id="4" name="Footer Placeholder 3">
            <a:extLst>
              <a:ext uri="{FF2B5EF4-FFF2-40B4-BE49-F238E27FC236}">
                <a16:creationId xmlns:a16="http://schemas.microsoft.com/office/drawing/2014/main" id="{E242963D-DE45-F054-5819-C30DA3CAE264}"/>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08876C08-7C80-6D45-BB4B-4FF9F1986E13}"/>
              </a:ext>
            </a:extLst>
          </p:cNvPr>
          <p:cNvSpPr>
            <a:spLocks noGrp="1"/>
          </p:cNvSpPr>
          <p:nvPr>
            <p:ph type="sldNum" sz="quarter" idx="12"/>
          </p:nvPr>
        </p:nvSpPr>
        <p:spPr/>
        <p:txBody>
          <a:bodyPr/>
          <a:lstStyle/>
          <a:p>
            <a:fld id="{2B9F5B23-0EB3-4080-9B10-DAF3A0646904}" type="slidenum">
              <a:rPr lang="en-US" smtClean="0"/>
              <a:t>10</a:t>
            </a:fld>
            <a:endParaRPr lang="en-US"/>
          </a:p>
        </p:txBody>
      </p:sp>
    </p:spTree>
    <p:extLst>
      <p:ext uri="{BB962C8B-B14F-4D97-AF65-F5344CB8AC3E}">
        <p14:creationId xmlns:p14="http://schemas.microsoft.com/office/powerpoint/2010/main" val="333833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E1CEC-FB67-A5DF-B563-170943CA3FF9}"/>
              </a:ext>
            </a:extLst>
          </p:cNvPr>
          <p:cNvSpPr>
            <a:spLocks noGrp="1"/>
          </p:cNvSpPr>
          <p:nvPr>
            <p:ph type="title"/>
          </p:nvPr>
        </p:nvSpPr>
        <p:spPr/>
        <p:txBody>
          <a:bodyPr/>
          <a:lstStyle/>
          <a:p>
            <a:r>
              <a:rPr lang="en-GB" dirty="0"/>
              <a:t> Challenges Faced by IEEE</a:t>
            </a:r>
          </a:p>
        </p:txBody>
      </p:sp>
      <p:sp>
        <p:nvSpPr>
          <p:cNvPr id="3" name="Content Placeholder 2">
            <a:extLst>
              <a:ext uri="{FF2B5EF4-FFF2-40B4-BE49-F238E27FC236}">
                <a16:creationId xmlns:a16="http://schemas.microsoft.com/office/drawing/2014/main" id="{A0ACAF66-9E08-1B52-55EC-E0212E2AA2DF}"/>
              </a:ext>
            </a:extLst>
          </p:cNvPr>
          <p:cNvSpPr>
            <a:spLocks noGrp="1"/>
          </p:cNvSpPr>
          <p:nvPr>
            <p:ph idx="1"/>
          </p:nvPr>
        </p:nvSpPr>
        <p:spPr>
          <a:xfrm>
            <a:off x="838200" y="1690688"/>
            <a:ext cx="10515600" cy="4486275"/>
          </a:xfrm>
        </p:spPr>
        <p:txBody>
          <a:bodyPr>
            <a:normAutofit/>
          </a:bodyPr>
          <a:lstStyle/>
          <a:p>
            <a:r>
              <a:rPr lang="en-GB" sz="4000" dirty="0"/>
              <a:t>Low awareness in developing regions like Africa.</a:t>
            </a:r>
          </a:p>
          <a:p>
            <a:r>
              <a:rPr lang="en-GB" sz="4000" dirty="0"/>
              <a:t>Limited funding for student outreach.</a:t>
            </a:r>
          </a:p>
          <a:p>
            <a:r>
              <a:rPr lang="en-GB" sz="4000" dirty="0"/>
              <a:t>Cybersecurity concerns in digital programs.</a:t>
            </a:r>
          </a:p>
          <a:p>
            <a:r>
              <a:rPr lang="en-GB" sz="4000" dirty="0"/>
              <a:t>Language and cultural barriers in global events.</a:t>
            </a:r>
          </a:p>
          <a:p>
            <a:r>
              <a:rPr lang="en-GB" sz="4000" dirty="0"/>
              <a:t>Maintaining relevance in fast-changing tech fields.</a:t>
            </a:r>
          </a:p>
        </p:txBody>
      </p:sp>
      <p:sp>
        <p:nvSpPr>
          <p:cNvPr id="4" name="Footer Placeholder 3">
            <a:extLst>
              <a:ext uri="{FF2B5EF4-FFF2-40B4-BE49-F238E27FC236}">
                <a16:creationId xmlns:a16="http://schemas.microsoft.com/office/drawing/2014/main" id="{75B1F9CB-DE79-2A52-4317-9DE9769477FC}"/>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21007AA6-F71D-20F7-E314-8F17DBE164FE}"/>
              </a:ext>
            </a:extLst>
          </p:cNvPr>
          <p:cNvSpPr>
            <a:spLocks noGrp="1"/>
          </p:cNvSpPr>
          <p:nvPr>
            <p:ph type="sldNum" sz="quarter" idx="12"/>
          </p:nvPr>
        </p:nvSpPr>
        <p:spPr/>
        <p:txBody>
          <a:bodyPr/>
          <a:lstStyle/>
          <a:p>
            <a:fld id="{2B9F5B23-0EB3-4080-9B10-DAF3A0646904}" type="slidenum">
              <a:rPr lang="en-US" smtClean="0"/>
              <a:t>11</a:t>
            </a:fld>
            <a:endParaRPr lang="en-US"/>
          </a:p>
        </p:txBody>
      </p:sp>
    </p:spTree>
    <p:extLst>
      <p:ext uri="{BB962C8B-B14F-4D97-AF65-F5344CB8AC3E}">
        <p14:creationId xmlns:p14="http://schemas.microsoft.com/office/powerpoint/2010/main" val="1293059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07D5-D25B-451D-BE04-8C1E3D761669}"/>
              </a:ext>
            </a:extLst>
          </p:cNvPr>
          <p:cNvSpPr>
            <a:spLocks noGrp="1"/>
          </p:cNvSpPr>
          <p:nvPr>
            <p:ph type="title"/>
          </p:nvPr>
        </p:nvSpPr>
        <p:spPr>
          <a:xfrm>
            <a:off x="252248" y="136525"/>
            <a:ext cx="8555421" cy="1019613"/>
          </a:xfrm>
        </p:spPr>
        <p:txBody>
          <a:bodyPr>
            <a:normAutofit fontScale="90000"/>
          </a:bodyPr>
          <a:lstStyle/>
          <a:p>
            <a:r>
              <a:rPr lang="en-GB" dirty="0"/>
              <a:t>Reflection – My Future Role at MTN Uganda</a:t>
            </a:r>
          </a:p>
        </p:txBody>
      </p:sp>
      <p:sp>
        <p:nvSpPr>
          <p:cNvPr id="3" name="Content Placeholder 2">
            <a:extLst>
              <a:ext uri="{FF2B5EF4-FFF2-40B4-BE49-F238E27FC236}">
                <a16:creationId xmlns:a16="http://schemas.microsoft.com/office/drawing/2014/main" id="{A149EC7B-92A9-CA70-1738-08B33ACC6433}"/>
              </a:ext>
            </a:extLst>
          </p:cNvPr>
          <p:cNvSpPr>
            <a:spLocks noGrp="1"/>
          </p:cNvSpPr>
          <p:nvPr>
            <p:ph idx="1"/>
          </p:nvPr>
        </p:nvSpPr>
        <p:spPr>
          <a:xfrm>
            <a:off x="0" y="1629103"/>
            <a:ext cx="10573408" cy="4547860"/>
          </a:xfrm>
        </p:spPr>
        <p:txBody>
          <a:bodyPr>
            <a:normAutofit/>
          </a:bodyPr>
          <a:lstStyle/>
          <a:p>
            <a:r>
              <a:rPr lang="en-GB" sz="3200" dirty="0"/>
              <a:t>As an IT Project Manager at MTN Uganda</a:t>
            </a:r>
          </a:p>
          <a:p>
            <a:pPr marL="0" indent="0">
              <a:buNone/>
            </a:pPr>
            <a:endParaRPr lang="en-GB" sz="3200" dirty="0"/>
          </a:p>
          <a:p>
            <a:pPr marL="0" indent="0">
              <a:buNone/>
            </a:pPr>
            <a:r>
              <a:rPr lang="en-GB" sz="3200" dirty="0"/>
              <a:t>Responsibilities:</a:t>
            </a:r>
          </a:p>
          <a:p>
            <a:r>
              <a:rPr lang="en-GB" sz="3200" dirty="0"/>
              <a:t>Leading IT project planning and implementation</a:t>
            </a:r>
          </a:p>
          <a:p>
            <a:r>
              <a:rPr lang="en-GB" sz="3200" dirty="0"/>
              <a:t>Ensuring adherence to timelines, budget, and goals</a:t>
            </a:r>
          </a:p>
          <a:p>
            <a:r>
              <a:rPr lang="en-GB" sz="3200" dirty="0"/>
              <a:t>Risk management</a:t>
            </a:r>
          </a:p>
          <a:p>
            <a:r>
              <a:rPr lang="en-GB" sz="3200" dirty="0"/>
              <a:t>Inter-department collaboration</a:t>
            </a:r>
          </a:p>
          <a:p>
            <a:r>
              <a:rPr lang="en-GB" sz="3200" dirty="0"/>
              <a:t>Stakeholder communication</a:t>
            </a:r>
          </a:p>
        </p:txBody>
      </p:sp>
      <p:sp>
        <p:nvSpPr>
          <p:cNvPr id="4" name="Footer Placeholder 3">
            <a:extLst>
              <a:ext uri="{FF2B5EF4-FFF2-40B4-BE49-F238E27FC236}">
                <a16:creationId xmlns:a16="http://schemas.microsoft.com/office/drawing/2014/main" id="{A8008052-D43E-B5C5-7046-1C30395C19A0}"/>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8DA2E9D3-3486-32A5-4647-11C3547E99BA}"/>
              </a:ext>
            </a:extLst>
          </p:cNvPr>
          <p:cNvSpPr>
            <a:spLocks noGrp="1"/>
          </p:cNvSpPr>
          <p:nvPr>
            <p:ph type="sldNum" sz="quarter" idx="12"/>
          </p:nvPr>
        </p:nvSpPr>
        <p:spPr/>
        <p:txBody>
          <a:bodyPr/>
          <a:lstStyle/>
          <a:p>
            <a:fld id="{2B9F5B23-0EB3-4080-9B10-DAF3A0646904}" type="slidenum">
              <a:rPr lang="en-US" smtClean="0"/>
              <a:t>12</a:t>
            </a:fld>
            <a:endParaRPr lang="en-US"/>
          </a:p>
        </p:txBody>
      </p:sp>
    </p:spTree>
    <p:extLst>
      <p:ext uri="{BB962C8B-B14F-4D97-AF65-F5344CB8AC3E}">
        <p14:creationId xmlns:p14="http://schemas.microsoft.com/office/powerpoint/2010/main" val="466097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7640E-B4B4-E306-D7BF-FBACE43014AB}"/>
              </a:ext>
            </a:extLst>
          </p:cNvPr>
          <p:cNvSpPr>
            <a:spLocks noGrp="1"/>
          </p:cNvSpPr>
          <p:nvPr>
            <p:ph type="title"/>
          </p:nvPr>
        </p:nvSpPr>
        <p:spPr>
          <a:xfrm>
            <a:off x="-73572" y="-651641"/>
            <a:ext cx="11427372" cy="2342329"/>
          </a:xfrm>
        </p:spPr>
        <p:txBody>
          <a:bodyPr/>
          <a:lstStyle/>
          <a:p>
            <a:r>
              <a:rPr lang="en-GB" dirty="0"/>
              <a:t> How IEEE Will Impact My Role</a:t>
            </a:r>
          </a:p>
        </p:txBody>
      </p:sp>
      <p:sp>
        <p:nvSpPr>
          <p:cNvPr id="3" name="Content Placeholder 2">
            <a:extLst>
              <a:ext uri="{FF2B5EF4-FFF2-40B4-BE49-F238E27FC236}">
                <a16:creationId xmlns:a16="http://schemas.microsoft.com/office/drawing/2014/main" id="{A61EAC34-DE7A-40A3-E064-6E21370E3886}"/>
              </a:ext>
            </a:extLst>
          </p:cNvPr>
          <p:cNvSpPr>
            <a:spLocks noGrp="1"/>
          </p:cNvSpPr>
          <p:nvPr>
            <p:ph idx="1"/>
          </p:nvPr>
        </p:nvSpPr>
        <p:spPr>
          <a:xfrm>
            <a:off x="115614" y="1690687"/>
            <a:ext cx="10121462" cy="4486275"/>
          </a:xfrm>
        </p:spPr>
        <p:txBody>
          <a:bodyPr>
            <a:normAutofit/>
          </a:bodyPr>
          <a:lstStyle/>
          <a:p>
            <a:r>
              <a:rPr lang="en-GB" sz="3600" dirty="0"/>
              <a:t>Promotes lifelong learning through access to journals and certifications.</a:t>
            </a:r>
          </a:p>
          <a:p>
            <a:r>
              <a:rPr lang="en-GB" sz="3600" dirty="0"/>
              <a:t>Instils ethical behaviour in handling sensitive data and managing teams.</a:t>
            </a:r>
          </a:p>
          <a:p>
            <a:r>
              <a:rPr lang="en-GB" sz="3600" dirty="0"/>
              <a:t>Encourages use of global standards in project planning and execution.</a:t>
            </a:r>
          </a:p>
          <a:p>
            <a:r>
              <a:rPr lang="en-GB" sz="3600" dirty="0"/>
              <a:t>Builds networking skills and global connections to collaborate on innovations.</a:t>
            </a:r>
          </a:p>
        </p:txBody>
      </p:sp>
      <p:sp>
        <p:nvSpPr>
          <p:cNvPr id="4" name="Footer Placeholder 3">
            <a:extLst>
              <a:ext uri="{FF2B5EF4-FFF2-40B4-BE49-F238E27FC236}">
                <a16:creationId xmlns:a16="http://schemas.microsoft.com/office/drawing/2014/main" id="{BD776BA2-739C-390E-E7F3-00BC944882D2}"/>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297F0C55-3F97-212B-2033-D997CA49BBA3}"/>
              </a:ext>
            </a:extLst>
          </p:cNvPr>
          <p:cNvSpPr>
            <a:spLocks noGrp="1"/>
          </p:cNvSpPr>
          <p:nvPr>
            <p:ph type="sldNum" sz="quarter" idx="12"/>
          </p:nvPr>
        </p:nvSpPr>
        <p:spPr/>
        <p:txBody>
          <a:bodyPr/>
          <a:lstStyle/>
          <a:p>
            <a:fld id="{2B9F5B23-0EB3-4080-9B10-DAF3A0646904}" type="slidenum">
              <a:rPr lang="en-US" smtClean="0"/>
              <a:t>13</a:t>
            </a:fld>
            <a:endParaRPr lang="en-US"/>
          </a:p>
        </p:txBody>
      </p:sp>
    </p:spTree>
    <p:extLst>
      <p:ext uri="{BB962C8B-B14F-4D97-AF65-F5344CB8AC3E}">
        <p14:creationId xmlns:p14="http://schemas.microsoft.com/office/powerpoint/2010/main" val="3218375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07865-0F68-056E-8C50-AA8940CDE213}"/>
              </a:ext>
            </a:extLst>
          </p:cNvPr>
          <p:cNvSpPr>
            <a:spLocks noGrp="1"/>
          </p:cNvSpPr>
          <p:nvPr>
            <p:ph type="title"/>
          </p:nvPr>
        </p:nvSpPr>
        <p:spPr>
          <a:xfrm>
            <a:off x="147145" y="-94593"/>
            <a:ext cx="11206655" cy="1785281"/>
          </a:xfrm>
        </p:spPr>
        <p:txBody>
          <a:bodyPr/>
          <a:lstStyle/>
          <a:p>
            <a:r>
              <a:rPr lang="en-GB" dirty="0"/>
              <a:t>Ethical Dilemmas Faced by IEEE and Its Members</a:t>
            </a:r>
          </a:p>
        </p:txBody>
      </p:sp>
      <p:sp>
        <p:nvSpPr>
          <p:cNvPr id="3" name="Content Placeholder 2">
            <a:extLst>
              <a:ext uri="{FF2B5EF4-FFF2-40B4-BE49-F238E27FC236}">
                <a16:creationId xmlns:a16="http://schemas.microsoft.com/office/drawing/2014/main" id="{FC90F94B-2821-71E4-DC83-D33EC14D8B65}"/>
              </a:ext>
            </a:extLst>
          </p:cNvPr>
          <p:cNvSpPr>
            <a:spLocks noGrp="1"/>
          </p:cNvSpPr>
          <p:nvPr>
            <p:ph idx="1"/>
          </p:nvPr>
        </p:nvSpPr>
        <p:spPr>
          <a:xfrm>
            <a:off x="231228" y="1566041"/>
            <a:ext cx="11122572" cy="4610922"/>
          </a:xfrm>
        </p:spPr>
        <p:txBody>
          <a:bodyPr/>
          <a:lstStyle/>
          <a:p>
            <a:r>
              <a:rPr lang="en-GB" dirty="0"/>
              <a:t>1. Privacy vs Innovation; Using advanced technologies may violate users’ personal data rights.</a:t>
            </a:r>
          </a:p>
          <a:p>
            <a:r>
              <a:rPr lang="en-GB" dirty="0"/>
              <a:t>Example: AI tracking user behaviour without their consent.</a:t>
            </a:r>
          </a:p>
          <a:p>
            <a:r>
              <a:rPr lang="en-GB" dirty="0"/>
              <a:t>2. Security vs Accessibility; Protecting systems while ensuring usability for everyone, including the disabled.</a:t>
            </a:r>
          </a:p>
          <a:p>
            <a:r>
              <a:rPr lang="en-GB" dirty="0"/>
              <a:t>Example: Government portal is secure but not user-friendly for people with disabilities.</a:t>
            </a:r>
          </a:p>
          <a:p>
            <a:r>
              <a:rPr lang="en-GB" dirty="0"/>
              <a:t>3. Whistleblowing vs Loyalty; Reporting ethical violations might cost you your job.</a:t>
            </a:r>
          </a:p>
          <a:p>
            <a:r>
              <a:rPr lang="en-GB" dirty="0"/>
              <a:t>Example: Reporting your company for releasing unsafe software.</a:t>
            </a:r>
          </a:p>
        </p:txBody>
      </p:sp>
      <p:sp>
        <p:nvSpPr>
          <p:cNvPr id="4" name="Footer Placeholder 3">
            <a:extLst>
              <a:ext uri="{FF2B5EF4-FFF2-40B4-BE49-F238E27FC236}">
                <a16:creationId xmlns:a16="http://schemas.microsoft.com/office/drawing/2014/main" id="{53D3F634-7EA2-24BF-A4BB-192347852904}"/>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6D2D1129-C66B-C761-1E51-D0A041EE1AC9}"/>
              </a:ext>
            </a:extLst>
          </p:cNvPr>
          <p:cNvSpPr>
            <a:spLocks noGrp="1"/>
          </p:cNvSpPr>
          <p:nvPr>
            <p:ph type="sldNum" sz="quarter" idx="12"/>
          </p:nvPr>
        </p:nvSpPr>
        <p:spPr/>
        <p:txBody>
          <a:bodyPr/>
          <a:lstStyle/>
          <a:p>
            <a:fld id="{2B9F5B23-0EB3-4080-9B10-DAF3A0646904}" type="slidenum">
              <a:rPr lang="en-US" smtClean="0"/>
              <a:t>14</a:t>
            </a:fld>
            <a:endParaRPr lang="en-US"/>
          </a:p>
        </p:txBody>
      </p:sp>
    </p:spTree>
    <p:extLst>
      <p:ext uri="{BB962C8B-B14F-4D97-AF65-F5344CB8AC3E}">
        <p14:creationId xmlns:p14="http://schemas.microsoft.com/office/powerpoint/2010/main" val="3232273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3121-9440-254F-9066-2B4FF45F8AA6}"/>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93528C09-AF26-E208-5392-1B8662E0850C}"/>
              </a:ext>
            </a:extLst>
          </p:cNvPr>
          <p:cNvSpPr>
            <a:spLocks noGrp="1"/>
          </p:cNvSpPr>
          <p:nvPr>
            <p:ph idx="1"/>
          </p:nvPr>
        </p:nvSpPr>
        <p:spPr/>
        <p:txBody>
          <a:bodyPr>
            <a:normAutofit fontScale="92500" lnSpcReduction="10000"/>
          </a:bodyPr>
          <a:lstStyle/>
          <a:p>
            <a:r>
              <a:rPr lang="en-GB" sz="3200" dirty="0"/>
              <a:t>IEEE is more than a professional organization; it is a global standard-bearer for excellence, ethics, and innovation in IT.</a:t>
            </a:r>
          </a:p>
          <a:p>
            <a:pPr marL="0" indent="0">
              <a:buNone/>
            </a:pPr>
            <a:endParaRPr lang="en-GB" sz="3200" dirty="0"/>
          </a:p>
          <a:p>
            <a:r>
              <a:rPr lang="en-GB" sz="3200" dirty="0"/>
              <a:t>As future IT Project Managers and technology leaders, we must uphold IEEE's values to build trustworthy, inclusive, and forward-thinking organizations like MTN Uganda.</a:t>
            </a:r>
          </a:p>
          <a:p>
            <a:pPr marL="0" indent="0">
              <a:buNone/>
            </a:pPr>
            <a:endParaRPr lang="en-GB" dirty="0"/>
          </a:p>
          <a:p>
            <a:pPr marL="0" indent="0">
              <a:buNone/>
            </a:pPr>
            <a:endParaRPr lang="en-GB" dirty="0"/>
          </a:p>
          <a:p>
            <a:pPr marL="0" indent="0">
              <a:buNone/>
            </a:pPr>
            <a:endParaRPr lang="en-GB" dirty="0"/>
          </a:p>
          <a:p>
            <a:pPr marL="0" indent="0" algn="ctr">
              <a:buNone/>
            </a:pPr>
            <a:r>
              <a:rPr lang="en-GB" b="1" dirty="0">
                <a:latin typeface="Bahnschrift Condensed" panose="020B0502040204020203" pitchFamily="34" charset="0"/>
              </a:rPr>
              <a:t>IEEE doesn't just create professionals. It builds ethical, visionary, and responsible IT leaders.”</a:t>
            </a:r>
          </a:p>
        </p:txBody>
      </p:sp>
      <p:sp>
        <p:nvSpPr>
          <p:cNvPr id="4" name="Footer Placeholder 3">
            <a:extLst>
              <a:ext uri="{FF2B5EF4-FFF2-40B4-BE49-F238E27FC236}">
                <a16:creationId xmlns:a16="http://schemas.microsoft.com/office/drawing/2014/main" id="{26E4F91D-AFE5-A479-4ED6-DAEBE8E70955}"/>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6CE63C77-DB3D-B246-5510-0971928516DA}"/>
              </a:ext>
            </a:extLst>
          </p:cNvPr>
          <p:cNvSpPr>
            <a:spLocks noGrp="1"/>
          </p:cNvSpPr>
          <p:nvPr>
            <p:ph type="sldNum" sz="quarter" idx="12"/>
          </p:nvPr>
        </p:nvSpPr>
        <p:spPr/>
        <p:txBody>
          <a:bodyPr/>
          <a:lstStyle/>
          <a:p>
            <a:fld id="{2B9F5B23-0EB3-4080-9B10-DAF3A0646904}" type="slidenum">
              <a:rPr lang="en-US" smtClean="0"/>
              <a:t>15</a:t>
            </a:fld>
            <a:endParaRPr lang="en-US"/>
          </a:p>
        </p:txBody>
      </p:sp>
    </p:spTree>
    <p:extLst>
      <p:ext uri="{BB962C8B-B14F-4D97-AF65-F5344CB8AC3E}">
        <p14:creationId xmlns:p14="http://schemas.microsoft.com/office/powerpoint/2010/main" val="914420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CB0D8-0A85-2088-88CF-406CD790846F}"/>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777D33FF-4118-2094-B3D4-465EE2ABD97C}"/>
              </a:ext>
            </a:extLst>
          </p:cNvPr>
          <p:cNvSpPr>
            <a:spLocks noGrp="1"/>
          </p:cNvSpPr>
          <p:nvPr>
            <p:ph idx="1"/>
          </p:nvPr>
        </p:nvSpPr>
        <p:spPr/>
        <p:txBody>
          <a:bodyPr>
            <a:normAutofit fontScale="92500" lnSpcReduction="10000"/>
          </a:bodyPr>
          <a:lstStyle/>
          <a:p>
            <a:pPr lvl="0"/>
            <a:r>
              <a:rPr lang="en-GB" b="1" dirty="0"/>
              <a:t>IEEE Computer Society. (2020). </a:t>
            </a:r>
            <a:r>
              <a:rPr lang="en-GB" b="1" i="1" dirty="0"/>
              <a:t>Software Engineering Body of Knowledge (SWEBOK)</a:t>
            </a:r>
            <a:r>
              <a:rPr lang="en-GB" b="1" dirty="0"/>
              <a:t> (Version 3.0).</a:t>
            </a:r>
            <a:r>
              <a:rPr lang="en-GB" dirty="0"/>
              <a:t> IEEE Press.</a:t>
            </a:r>
            <a:endParaRPr lang="en-US" sz="2000" dirty="0"/>
          </a:p>
          <a:p>
            <a:pPr marL="457200" lvl="1" indent="0">
              <a:buNone/>
            </a:pPr>
            <a:r>
              <a:rPr lang="en-GB" dirty="0"/>
              <a:t>Covers key principles in software engineering, industry standards, and professional certifications.</a:t>
            </a:r>
            <a:endParaRPr lang="en-US" sz="1800" dirty="0"/>
          </a:p>
          <a:p>
            <a:pPr lvl="0"/>
            <a:r>
              <a:rPr lang="en-GB" b="1" dirty="0"/>
              <a:t>Stallings, W. (2020). </a:t>
            </a:r>
            <a:r>
              <a:rPr lang="en-GB" b="1" i="1" dirty="0"/>
              <a:t>Computer Networking: Principles, Protocols, and Practice.</a:t>
            </a:r>
            <a:r>
              <a:rPr lang="en-GB" b="1" dirty="0"/>
              <a:t> Pearson.</a:t>
            </a:r>
            <a:endParaRPr lang="en-US" sz="2000" dirty="0"/>
          </a:p>
          <a:p>
            <a:pPr marL="457200" lvl="1" indent="0">
              <a:buNone/>
            </a:pPr>
            <a:r>
              <a:rPr lang="en-GB" dirty="0"/>
              <a:t>Discusses networking standards, cybersecurity, and their applications in the telecom sector.</a:t>
            </a:r>
            <a:endParaRPr lang="en-US" sz="1800" dirty="0"/>
          </a:p>
          <a:p>
            <a:pPr lvl="0"/>
            <a:r>
              <a:rPr lang="en-GB" b="1" dirty="0"/>
              <a:t>Kurose, J. F., &amp; Ross, K. W. (2021). </a:t>
            </a:r>
            <a:r>
              <a:rPr lang="en-GB" b="1" i="1" dirty="0"/>
              <a:t>Computer Networking: A Top-Down Approach.</a:t>
            </a:r>
            <a:r>
              <a:rPr lang="en-GB" b="1" dirty="0"/>
              <a:t> Pearson.</a:t>
            </a:r>
            <a:endParaRPr lang="en-US" sz="3200" dirty="0"/>
          </a:p>
          <a:p>
            <a:pPr marL="0" indent="0">
              <a:buNone/>
            </a:pPr>
            <a:r>
              <a:rPr lang="en-GB" dirty="0"/>
              <a:t>Covers networking protocols and standards established by IEEE, relevant for MTN Uganda’s IT professionals.</a:t>
            </a:r>
            <a:endParaRPr lang="en-US" dirty="0"/>
          </a:p>
          <a:p>
            <a:endParaRPr lang="en-GB" dirty="0"/>
          </a:p>
          <a:p>
            <a:endParaRPr lang="en-GB" dirty="0"/>
          </a:p>
        </p:txBody>
      </p:sp>
      <p:sp>
        <p:nvSpPr>
          <p:cNvPr id="4" name="Footer Placeholder 3">
            <a:extLst>
              <a:ext uri="{FF2B5EF4-FFF2-40B4-BE49-F238E27FC236}">
                <a16:creationId xmlns:a16="http://schemas.microsoft.com/office/drawing/2014/main" id="{2E2D3E62-F2F9-34B1-89E0-E1D257B263B6}"/>
              </a:ext>
            </a:extLst>
          </p:cNvPr>
          <p:cNvSpPr>
            <a:spLocks noGrp="1"/>
          </p:cNvSpPr>
          <p:nvPr>
            <p:ph type="ftr" sz="quarter" idx="11"/>
          </p:nvPr>
        </p:nvSpPr>
        <p:spPr/>
        <p:txBody>
          <a:bodyPr/>
          <a:lstStyle/>
          <a:p>
            <a:r>
              <a:rPr lang="en-US"/>
              <a:t>GROUP 1</a:t>
            </a:r>
          </a:p>
        </p:txBody>
      </p:sp>
      <p:sp>
        <p:nvSpPr>
          <p:cNvPr id="5" name="Slide Number Placeholder 4">
            <a:extLst>
              <a:ext uri="{FF2B5EF4-FFF2-40B4-BE49-F238E27FC236}">
                <a16:creationId xmlns:a16="http://schemas.microsoft.com/office/drawing/2014/main" id="{94CB44EF-F2A3-04F6-6ABD-8DE647538C09}"/>
              </a:ext>
            </a:extLst>
          </p:cNvPr>
          <p:cNvSpPr>
            <a:spLocks noGrp="1"/>
          </p:cNvSpPr>
          <p:nvPr>
            <p:ph type="sldNum" sz="quarter" idx="12"/>
          </p:nvPr>
        </p:nvSpPr>
        <p:spPr/>
        <p:txBody>
          <a:bodyPr/>
          <a:lstStyle/>
          <a:p>
            <a:fld id="{2B9F5B23-0EB3-4080-9B10-DAF3A0646904}" type="slidenum">
              <a:rPr lang="en-US" smtClean="0"/>
              <a:t>16</a:t>
            </a:fld>
            <a:endParaRPr lang="en-US"/>
          </a:p>
        </p:txBody>
      </p:sp>
    </p:spTree>
    <p:extLst>
      <p:ext uri="{BB962C8B-B14F-4D97-AF65-F5344CB8AC3E}">
        <p14:creationId xmlns:p14="http://schemas.microsoft.com/office/powerpoint/2010/main" val="1313003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773</TotalTime>
  <Words>983</Words>
  <Application>Microsoft Office PowerPoint</Application>
  <PresentationFormat>Widescreen</PresentationFormat>
  <Paragraphs>142</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Algerian</vt:lpstr>
      <vt:lpstr>Arial</vt:lpstr>
      <vt:lpstr>Bahnschrift Condensed</vt:lpstr>
      <vt:lpstr>Calibri</vt:lpstr>
      <vt:lpstr>Times New Roman</vt:lpstr>
      <vt:lpstr>Wingdings</vt:lpstr>
      <vt:lpstr>Office Theme</vt:lpstr>
      <vt:lpstr>PowerPoint Presentation</vt:lpstr>
      <vt:lpstr>GROUP MEMBERS</vt:lpstr>
      <vt:lpstr>Introduction </vt:lpstr>
      <vt:lpstr>Purpose of the IEEE Computer Society</vt:lpstr>
      <vt:lpstr>Objectives of the IEEE Computer Society</vt:lpstr>
      <vt:lpstr>Key Activities of the IEEE Computer Society</vt:lpstr>
      <vt:lpstr> Membership Details</vt:lpstr>
      <vt:lpstr> Professional Guidelines</vt:lpstr>
      <vt:lpstr> IEEE Code of Conduct</vt:lpstr>
      <vt:lpstr> Global Relevance of IEEE</vt:lpstr>
      <vt:lpstr> Challenges Faced by IEEE</vt:lpstr>
      <vt:lpstr>Reflection – My Future Role at MTN Uganda</vt:lpstr>
      <vt:lpstr> How IEEE Will Impact My Role</vt:lpstr>
      <vt:lpstr>Ethical Dilemmas Faced by IEEE and Its Members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DRUM PRINCE ABBIE</dc:creator>
  <cp:lastModifiedBy>Empire Jax</cp:lastModifiedBy>
  <cp:revision>17</cp:revision>
  <dcterms:created xsi:type="dcterms:W3CDTF">2025-04-09T20:22:58Z</dcterms:created>
  <dcterms:modified xsi:type="dcterms:W3CDTF">2025-04-14T07:45:50Z</dcterms:modified>
</cp:coreProperties>
</file>